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1" Type="http://schemas.openxmlformats.org/officeDocument/2006/relationships/viewProps" Target="viewProps.xml" /><Relationship Id="rId1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3" Type="http://schemas.openxmlformats.org/officeDocument/2006/relationships/tableStyles" Target="tableStyles.xml" /><Relationship Id="rId1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🚀 LinguoUp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Transformando pequenos momentos do dia em oportunidades de aprendizado.</a:t>
            </a:r>
          </a:p>
          <a:p>
            <a:pPr lvl="0" indent="0" marL="0">
              <a:buNone/>
            </a:pPr>
            <a:r>
              <a:rPr/>
              <a:t>Uma plataforma de aprendizado de idiomas baseada em microaprendizagem.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⚠️ O Problema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Aprender um idioma exige consistência. A barreira principal muitas vezes não é o acesso, mas sim a criação do </a:t>
            </a:r>
            <a:r>
              <a:rPr b="1"/>
              <a:t>hábito</a:t>
            </a:r>
            <a:r>
              <a:rPr/>
              <a:t>.</a:t>
            </a:r>
          </a:p>
          <a:p>
            <a:pPr lvl="0"/>
            <a:r>
              <a:rPr b="1"/>
              <a:t>Falta de Tempo e Motivação</a:t>
            </a:r>
          </a:p>
          <a:p>
            <a:pPr lvl="0"/>
            <a:r>
              <a:rPr/>
              <a:t>Milhões de adultos abandonam os estudos precocemente pela dificuldade de encaixar a prática na rotina diária ocupada.</a:t>
            </a:r>
          </a:p>
          <a:p>
            <a:pPr lvl="0"/>
            <a:r>
              <a:rPr/>
              <a:t>Como resultado, o potencial de bilinguismo global é desperdiçado pela alta taxa de desistência.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🎯 Público-Alvo e Objetivo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👥 Quem são?</a:t>
            </a:r>
            <a:r>
              <a:rPr/>
              <a:t> Adultos (18-45 anos) com rotinas intensas de trabalho, estudo e compromissos pessoais, que desejam aprender um novo idioma mas falham em manter a consistência.</a:t>
            </a:r>
          </a:p>
          <a:p>
            <a:pPr lvl="0" indent="0" marL="0">
              <a:buNone/>
            </a:pPr>
            <a:r>
              <a:rPr b="1"/>
              <a:t>💡 Nosso Objetivo</a:t>
            </a:r>
            <a:r>
              <a:rPr/>
              <a:t> Criar uma solução digital que </a:t>
            </a:r>
            <a:r>
              <a:rPr b="1"/>
              <a:t>integre o aprendizado ao cotidiano</a:t>
            </a:r>
            <a:r>
              <a:rPr/>
              <a:t> de forma: - </a:t>
            </a:r>
            <a:r>
              <a:rPr b="1"/>
              <a:t>Simples e Acessível</a:t>
            </a:r>
            <a:r>
              <a:rPr/>
              <a:t> - </a:t>
            </a:r>
            <a:r>
              <a:rPr b="1"/>
              <a:t>Contínua</a:t>
            </a:r>
            <a:r>
              <a:rPr/>
              <a:t> (Lições rápidas de 3 a 5 minutos) - Focada em </a:t>
            </a:r>
            <a:r>
              <a:rPr b="1"/>
              <a:t>aumentar a retenção, engajamento e adesão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🏗️ Visão Arquitetural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arquitetura escolhida para o MVP é um </a:t>
            </a:r>
            <a:r>
              <a:rPr b="1"/>
              <a:t>Modular Monolith</a:t>
            </a:r>
            <a:r>
              <a:rPr/>
              <a:t>, planejada para evoluir progressivamente para microsserviços.</a:t>
            </a:r>
          </a:p>
          <a:p>
            <a:pPr lvl="0" indent="0" marL="0">
              <a:buNone/>
            </a:pPr>
            <a:r>
              <a:rPr b="1"/>
              <a:t>Por que Modular Monolith?</a:t>
            </a:r>
            <a:r>
              <a:rPr/>
              <a:t> Garante menor custo operacional e menor complexidade inicial, mas nasce pronta para escalar (Growth &amp; Scale stages) com domínios bem definidos.</a:t>
            </a:r>
          </a:p>
          <a:p>
            <a:pPr lvl="0" indent="0" marL="0">
              <a:buNone/>
            </a:pPr>
            <a:r>
              <a:rPr b="1"/>
              <a:t>Princípios Base:</a:t>
            </a:r>
            <a:r>
              <a:rPr/>
              <a:t> - </a:t>
            </a:r>
            <a:r>
              <a:rPr b="1"/>
              <a:t>Single Source of Truth</a:t>
            </a:r>
            <a:r>
              <a:rPr/>
              <a:t>: Backend centraliza as regras de negócio; DB para transações; Redis para cache. - </a:t>
            </a:r>
            <a:r>
              <a:rPr b="1"/>
              <a:t>Isolamento Lógico</a:t>
            </a:r>
            <a:r>
              <a:rPr/>
              <a:t>: Preparado para Multi-Tenant (tenant_id transitando em toda entidade principal). - </a:t>
            </a:r>
            <a:r>
              <a:rPr b="1"/>
              <a:t>Eficiência</a:t>
            </a:r>
            <a:r>
              <a:rPr/>
              <a:t>: Carregamento de tela ≤ 2s, transações atômicas otimizadas e latência p95 ≤ 500ms.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🗺️ Arquitetura (MVP)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Client</a:t>
            </a:r>
            <a:r>
              <a:rPr/>
              <a:t>: Web Client e Painel Admin em Next.js</a:t>
            </a:r>
          </a:p>
          <a:p>
            <a:pPr lvl="0"/>
            <a:r>
              <a:rPr b="1"/>
              <a:t>Backend (EKS)</a:t>
            </a:r>
            <a:r>
              <a:rPr/>
              <a:t>: Monólito Modular NestJS com Domínios (Auth, Users, Learning, Progress, Gamification)</a:t>
            </a:r>
          </a:p>
          <a:p>
            <a:pPr lvl="0"/>
            <a:r>
              <a:rPr b="1"/>
              <a:t>Banco de Dados e Cache</a:t>
            </a:r>
            <a:r>
              <a:rPr/>
              <a:t>: PostgreSQL 15+ e Redis 7+</a:t>
            </a:r>
          </a:p>
          <a:p>
            <a:pPr lvl="0"/>
            <a:r>
              <a:rPr b="1"/>
              <a:t>Mídia e Estáticos</a:t>
            </a:r>
            <a:r>
              <a:rPr/>
              <a:t>: AWS S3 e CloudFront (CDN)</a:t>
            </a:r>
          </a:p>
          <a:p>
            <a:pPr lvl="0"/>
            <a:r>
              <a:rPr b="1"/>
              <a:t>Segurança IAM</a:t>
            </a:r>
            <a:r>
              <a:rPr/>
              <a:t>: Auth0</a:t>
            </a:r>
          </a:p>
          <a:p>
            <a:pPr lvl="0"/>
            <a:r>
              <a:rPr b="1"/>
              <a:t>Observabilidade</a:t>
            </a:r>
            <a:r>
              <a:rPr/>
              <a:t>: OpenTelemetry, Loki, Prometheus e Grafana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💻 Stack Tecnológica: Aplicação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🌐 Frontend Web (Next.js)</a:t>
            </a:r>
            <a:r>
              <a:rPr/>
              <a:t> - </a:t>
            </a:r>
            <a:r>
              <a:rPr b="1"/>
              <a:t>Linguagem:</a:t>
            </a:r>
            <a:r>
              <a:rPr/>
              <a:t> TypeScript - </a:t>
            </a:r>
            <a:r>
              <a:rPr b="1"/>
              <a:t>Framework Web:</a:t>
            </a:r>
            <a:r>
              <a:rPr/>
              <a:t> Next.js (App Router) - </a:t>
            </a:r>
            <a:r>
              <a:rPr b="1"/>
              <a:t>Estilo &amp; UI:</a:t>
            </a:r>
            <a:r>
              <a:rPr/>
              <a:t> Tailwind CSS, Zustand (Estado UI global) - </a:t>
            </a:r>
            <a:r>
              <a:rPr b="1"/>
              <a:t>Data Fetching:</a:t>
            </a:r>
            <a:r>
              <a:rPr/>
              <a:t> TanStack Query (Estado do Servidor)</a:t>
            </a:r>
          </a:p>
          <a:p>
            <a:pPr lvl="0" indent="0" marL="0">
              <a:buNone/>
            </a:pPr>
            <a:r>
              <a:rPr b="1"/>
              <a:t>⚙️ Backend (NestJS)</a:t>
            </a:r>
            <a:r>
              <a:rPr/>
              <a:t> - </a:t>
            </a:r>
            <a:r>
              <a:rPr b="1"/>
              <a:t>Linguagem &amp; Runtime:</a:t>
            </a:r>
            <a:r>
              <a:rPr/>
              <a:t> TypeScript / Node.js LTS - </a:t>
            </a:r>
            <a:r>
              <a:rPr b="1"/>
              <a:t>Framework:</a:t>
            </a:r>
            <a:r>
              <a:rPr/>
              <a:t> NestJS (Clean Architecture / DDD leve) - </a:t>
            </a:r>
            <a:r>
              <a:rPr b="1"/>
              <a:t>ORM:</a:t>
            </a:r>
            <a:r>
              <a:rPr/>
              <a:t> Prisma ORM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🔐 Dados, Infra e Observabilidade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🗄️ Dados e Armazenamento</a:t>
            </a:r>
            <a:r>
              <a:rPr/>
              <a:t> - PostgreSQL 15+, Redis 7+, AWS S3 + CloudFront (CDN)</a:t>
            </a:r>
          </a:p>
          <a:p>
            <a:pPr lvl="0" indent="0" marL="0">
              <a:buNone/>
            </a:pPr>
            <a:r>
              <a:rPr b="1"/>
              <a:t>🛡️ Infraestrutura &amp; Segurança</a:t>
            </a:r>
            <a:r>
              <a:rPr/>
              <a:t> - </a:t>
            </a:r>
            <a:r>
              <a:rPr b="1"/>
              <a:t>Infra:</a:t>
            </a:r>
            <a:r>
              <a:rPr/>
              <a:t> AWS EKS (Kubernetes), Docker Compose (Local) - </a:t>
            </a:r>
            <a:r>
              <a:rPr b="1"/>
              <a:t>CI/CD:</a:t>
            </a:r>
            <a:r>
              <a:rPr/>
              <a:t> GitHub Actions (Build → Testes → SAST → Deploy Staging → Prod) e Terraform - </a:t>
            </a:r>
            <a:r>
              <a:rPr b="1"/>
              <a:t>Segurança:</a:t>
            </a:r>
            <a:r>
              <a:rPr/>
              <a:t> Auth0 (MVP), OAuth 2.1, OIDC, RBAC</a:t>
            </a:r>
          </a:p>
          <a:p>
            <a:pPr lvl="0" indent="0" marL="0">
              <a:buNone/>
            </a:pPr>
            <a:r>
              <a:rPr b="1"/>
              <a:t>📊 Observabilidade</a:t>
            </a:r>
            <a:r>
              <a:rPr/>
              <a:t> - OpenTelemetry, Loki, Prometheus, Grafana, Sentry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🛤️ Roadmap Evolutivo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V1 - MVP (Modular Monolith):</a:t>
            </a:r>
            <a:r>
              <a:rPr/>
              <a:t> Validação de engajamento, monólito NestJS, Auth0.</a:t>
            </a:r>
          </a:p>
          <a:p>
            <a:pPr lvl="0" indent="-342900" marL="342900">
              <a:buAutoNum type="arabicPeriod"/>
            </a:pPr>
            <a:r>
              <a:rPr b="1"/>
              <a:t>V2 - Growth Stage:</a:t>
            </a:r>
            <a:r>
              <a:rPr/>
              <a:t> Extração do </a:t>
            </a:r>
            <a:r>
              <a:rPr i="1"/>
              <a:t>Notification Service</a:t>
            </a:r>
            <a:r>
              <a:rPr/>
              <a:t> e </a:t>
            </a:r>
            <a:r>
              <a:rPr i="1"/>
              <a:t>Recommendation Engine</a:t>
            </a:r>
            <a:r>
              <a:rPr/>
              <a:t> para microsserviços; Dashboard Avançado.</a:t>
            </a:r>
          </a:p>
          <a:p>
            <a:pPr lvl="0" indent="-342900" marL="342900">
              <a:buAutoNum type="arabicPeriod"/>
            </a:pPr>
            <a:r>
              <a:rPr b="1"/>
              <a:t>V3 - Scale Stage (Microservices &amp; IA):</a:t>
            </a:r>
            <a:r>
              <a:rPr/>
              <a:t> Serviços distribuídos (Learning, Progress, Gamification) via eventos (Kafka). Motor de IA Conversacional avançada. Migração para AWS Cognito.</a:t>
            </a:r>
          </a:p>
          <a:p>
            <a:pPr lvl="0" indent="-342900" marL="342900">
              <a:buAutoNum type="arabicPeriod"/>
            </a:pPr>
            <a:r>
              <a:rPr b="1"/>
              <a:t>V4 - Enterprise:</a:t>
            </a:r>
            <a:r>
              <a:rPr/>
              <a:t> Certificações, foco corporativo B2B e isolamento de Multi-Tenant profundo por schema/banco.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2026-07-13T13:35:59Z</dcterms:created>
  <dcterms:modified xsi:type="dcterms:W3CDTF">2026-07-13T13:35:59Z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