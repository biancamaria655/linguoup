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LinguoUp: Apresentação Executiva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Transformando pequenos momentos do dia em oportunidades reais de aprendizado.</a:t>
            </a:r>
          </a:p>
          <a:p>
            <a:pPr lvl="0" indent="0" marL="0">
              <a:buNone/>
            </a:pPr>
            <a:r>
              <a:rPr/>
              <a:t>Uma plataforma de aprendizado de idiomas baseada em microaprendizagem, gamificação e retenção de hábitos.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⚠️ 1. 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Aprender um novo idioma é o desejo de milhões de pessoas para alavancar carreiras e experiências, porém a barreira principal não é o acesso ao conteúdo, mas a </a:t>
            </a:r>
            <a:r>
              <a:rPr b="1"/>
              <a:t>formação de um hábito consistente</a:t>
            </a:r>
            <a:r>
              <a:rPr/>
              <a:t>.</a:t>
            </a:r>
          </a:p>
          <a:p>
            <a:pPr lvl="0"/>
            <a:r>
              <a:rPr b="1"/>
              <a:t>Falta de Tempo e Motivação:</a:t>
            </a:r>
            <a:r>
              <a:rPr/>
              <a:t> Cursos tradicionais exigem longos blocos de estudo.</a:t>
            </a:r>
          </a:p>
          <a:p>
            <a:pPr lvl="0"/>
            <a:r>
              <a:rPr b="1"/>
              <a:t>Rotinas Imprevisíveis:</a:t>
            </a:r>
            <a:r>
              <a:rPr/>
              <a:t> Adultos possuem dificuldades em encontrar horas livres no dia a dia ocupado.</a:t>
            </a:r>
          </a:p>
          <a:p>
            <a:pPr lvl="0"/>
            <a:r>
              <a:rPr b="1"/>
              <a:t>Alta Desistência:</a:t>
            </a:r>
            <a:r>
              <a:rPr/>
              <a:t> O aprendizado sem a percepção de evolução rápida ou adaptação à rotina resulta no abandono precoce antes da fluência.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2. A Solução e Diferenciais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LinguoUp é uma solução digital que se </a:t>
            </a:r>
            <a:r>
              <a:rPr b="1"/>
              <a:t>integra ao cotidiano</a:t>
            </a:r>
            <a:r>
              <a:rPr/>
              <a:t> do usuário, sem exigir grandes compromissos de tempo diário.</a:t>
            </a:r>
          </a:p>
          <a:p>
            <a:pPr lvl="0" indent="0" marL="0">
              <a:buNone/>
            </a:pPr>
            <a:r>
              <a:rPr b="1"/>
              <a:t>Nossos Diferenciais:</a:t>
            </a:r>
            <a:r>
              <a:rPr/>
              <a:t> - </a:t>
            </a:r>
            <a:r>
              <a:rPr b="1"/>
              <a:t>Microlições:</a:t>
            </a:r>
            <a:r>
              <a:rPr/>
              <a:t> Sessões curtas de apenas </a:t>
            </a:r>
            <a:r>
              <a:rPr b="1"/>
              <a:t>3 a 5 minutos</a:t>
            </a:r>
            <a:r>
              <a:rPr/>
              <a:t>. - </a:t>
            </a:r>
            <a:r>
              <a:rPr b="1"/>
              <a:t>Aprendizado Adaptável:</a:t>
            </a:r>
            <a:r>
              <a:rPr/>
              <a:t> Conteúdo que se ajusta aos objetivos e disponibilidade. - </a:t>
            </a:r>
            <a:r>
              <a:rPr b="1"/>
              <a:t>Formação de Hábito:</a:t>
            </a:r>
            <a:r>
              <a:rPr/>
              <a:t> Gamificação, repetição espaçada e manutenção de </a:t>
            </a:r>
            <a:r>
              <a:rPr i="1"/>
              <a:t>streaks</a:t>
            </a:r>
            <a:r>
              <a:rPr/>
              <a:t>. - </a:t>
            </a:r>
            <a:r>
              <a:rPr b="1"/>
              <a:t>Prática Contextual:</a:t>
            </a:r>
            <a:r>
              <a:rPr/>
              <a:t> Situações focadas no dia a dia do usuário. - </a:t>
            </a:r>
            <a:r>
              <a:rPr b="1"/>
              <a:t>Inteligência Artificial:</a:t>
            </a:r>
            <a:r>
              <a:rPr/>
              <a:t> Motor de IA que sugere revisões e, em versões futuras, simula conversas reais.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3. Perfis de Usuário (Personas)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O Profissional Ocupado (25-45 anos)</a:t>
            </a:r>
            <a:r>
              <a:rPr/>
              <a:t> - Busca crescimento na carreira e viagens internacionais. - Sofre com rotina imprevisível e abandona cursos tradicionais longos.</a:t>
            </a:r>
          </a:p>
          <a:p>
            <a:pPr lvl="0" indent="0" marL="0">
              <a:buNone/>
            </a:pPr>
            <a:r>
              <a:rPr b="1"/>
              <a:t>2. O Universitário (18-30 anos)</a:t>
            </a:r>
            <a:r>
              <a:rPr/>
              <a:t> - Busca intercâmbio e certificações de proficiência. - Tem dificuldade de conciliar os estudos da faculdade com o estudo do idioma.</a:t>
            </a:r>
          </a:p>
          <a:p>
            <a:pPr lvl="0" indent="0" marL="0">
              <a:buNone/>
            </a:pPr>
            <a:r>
              <a:rPr b="1"/>
              <a:t>3. O Aprendiz Casual</a:t>
            </a:r>
            <a:r>
              <a:rPr/>
              <a:t> - Aprende por hobby, para consumir filmes e músicas. - Sofre com baixa motivação a longo prazo sem metas claras.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🗺️ 4. A Jornada do Usuário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Onboarding Personalizado:</a:t>
            </a:r>
            <a:r>
              <a:rPr/>
              <a:t> O usuário se cadastra em &lt;3 mins, define sua disponibilidade diária, e o sistema sugere metas.</a:t>
            </a:r>
          </a:p>
          <a:p>
            <a:pPr lvl="0"/>
            <a:r>
              <a:rPr b="1"/>
              <a:t>Avaliação Inicial de Nivelamento (≤ 10 mins):</a:t>
            </a:r>
            <a:r>
              <a:rPr/>
              <a:t> Coloca o aluno imediatamente no nível adequado de sua trilha.</a:t>
            </a:r>
          </a:p>
          <a:p>
            <a:pPr lvl="0"/>
            <a:r>
              <a:rPr b="1"/>
              <a:t>O Dashboard (Home):</a:t>
            </a:r>
            <a:r>
              <a:rPr/>
              <a:t> Focado na ação imediata — Saudação, meta diária, streak, revisão espaçada e a próxima lição em destaque.</a:t>
            </a:r>
          </a:p>
          <a:p>
            <a:pPr lvl="0"/>
            <a:r>
              <a:rPr b="1"/>
              <a:t>A Lição:</a:t>
            </a:r>
            <a:r>
              <a:rPr/>
              <a:t> Dinâmica, focada, durando de 3 a 5 minutos, recompensando o usuário imediatamente ao final com </a:t>
            </a:r>
            <a:r>
              <a:rPr i="1"/>
              <a:t>XP</a:t>
            </a:r>
            <a:r>
              <a:rPr/>
              <a:t> e atualizações do </a:t>
            </a:r>
            <a:r>
              <a:rPr i="1"/>
              <a:t>Streak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🎮 5. UX e Formação de Hábito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 aplicativo adota princípios agressivos de redução de fricção e engajamento:</a:t>
            </a:r>
          </a:p>
          <a:p>
            <a:pPr lvl="0"/>
            <a:r>
              <a:rPr b="1"/>
              <a:t>Redução de Atrito:</a:t>
            </a:r>
            <a:r>
              <a:rPr/>
              <a:t> Apenas </a:t>
            </a:r>
            <a:r>
              <a:rPr b="1"/>
              <a:t>3 toques/cliques</a:t>
            </a:r>
            <a:r>
              <a:rPr/>
              <a:t> no máximo para iniciar uma lição da Home.</a:t>
            </a:r>
          </a:p>
          <a:p>
            <a:pPr lvl="0"/>
            <a:r>
              <a:rPr b="1"/>
              <a:t>Gamificação Contínua:</a:t>
            </a:r>
            <a:r>
              <a:rPr/>
              <a:t> Recompensas instantâneas (XP), Sistema de Conquistas e visualização clara do Streak (frequência ininterrupta).</a:t>
            </a:r>
          </a:p>
          <a:p>
            <a:pPr lvl="0"/>
            <a:r>
              <a:rPr b="1"/>
              <a:t>Repetição Espaçada:</a:t>
            </a:r>
            <a:r>
              <a:rPr/>
              <a:t> Uma fila inteligente de revisões diárias otimiza a retenção do vocabulário que o usuário está prestes a esquecer.</a:t>
            </a:r>
          </a:p>
          <a:p>
            <a:pPr lvl="0"/>
            <a:r>
              <a:rPr b="1"/>
              <a:t>Notificações Inteligentes:</a:t>
            </a:r>
            <a:r>
              <a:rPr/>
              <a:t> Alertas enviados nos horários em que o usuário tem maior probabilidade de estar ativo.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6. Visão Arquitetural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arquitetura inicia como um </a:t>
            </a:r>
            <a:r>
              <a:rPr b="1"/>
              <a:t>Modular Monolith</a:t>
            </a:r>
            <a:r>
              <a:rPr/>
              <a:t> focado em acelerar o </a:t>
            </a:r>
            <a:r>
              <a:rPr i="1"/>
              <a:t>Time-to-Market</a:t>
            </a:r>
            <a:r>
              <a:rPr/>
              <a:t>, mas com organização orientada a domínios que prepara o projeto para uma escala Enterprise baseada em Microsserviços.</a:t>
            </a:r>
          </a:p>
          <a:p>
            <a:pPr lvl="0"/>
            <a:r>
              <a:rPr b="1"/>
              <a:t>Single Source of Truth:</a:t>
            </a:r>
            <a:r>
              <a:rPr/>
              <a:t> O Backend (NestJS) encapsula totalmente a regra de negócio. O Frontend atua puramente na renderização e estado visual.</a:t>
            </a:r>
          </a:p>
          <a:p>
            <a:pPr lvl="0"/>
            <a:r>
              <a:rPr b="1"/>
              <a:t>Domínios Fechados:</a:t>
            </a:r>
            <a:r>
              <a:rPr/>
              <a:t> Autenticação, Usuários, Aprendizado, Progresso, Gamificação e Notificações vivem em módulos isolados.</a:t>
            </a:r>
          </a:p>
          <a:p>
            <a:pPr lvl="0"/>
            <a:r>
              <a:rPr b="1"/>
              <a:t>Performance (SLOs):</a:t>
            </a:r>
          </a:p>
          <a:p>
            <a:pPr lvl="1"/>
            <a:r>
              <a:rPr/>
              <a:t>Carregamento de tela (Web): </a:t>
            </a:r>
            <a:r>
              <a:rPr b="1"/>
              <a:t>≤ 2 segundos</a:t>
            </a:r>
          </a:p>
          <a:p>
            <a:pPr lvl="1"/>
            <a:r>
              <a:rPr/>
              <a:t>Latência p95 de API: </a:t>
            </a:r>
            <a:r>
              <a:rPr b="1"/>
              <a:t>≤ 500ms</a:t>
            </a:r>
          </a:p>
          <a:p>
            <a:pPr lvl="1"/>
            <a:r>
              <a:rPr/>
              <a:t>Disponibilidade de serviço: </a:t>
            </a:r>
            <a:r>
              <a:rPr b="1"/>
              <a:t>≥ 99,5% mensal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7. Topologia na Nuvem (AWS 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Frontend:</a:t>
            </a:r>
            <a:r>
              <a:rPr/>
              <a:t> Web App e Admin distribuídos pelo CloudFront CDN. </a:t>
            </a:r>
            <a:r>
              <a:rPr b="1"/>
              <a:t>Backend:</a:t>
            </a:r>
            <a:r>
              <a:rPr/>
              <a:t> Cluster EKS rodando o monólito NestJS.</a:t>
            </a:r>
          </a:p>
          <a:p>
            <a:pPr lvl="0" indent="0" marL="0">
              <a:buNone/>
            </a:pPr>
            <a:r>
              <a:rPr b="1"/>
              <a:t>Integrações de Dados:</a:t>
            </a:r>
            <a:r>
              <a:rPr/>
              <a:t> - </a:t>
            </a:r>
            <a:r>
              <a:rPr b="1"/>
              <a:t>PostgreSQL (RDS):</a:t>
            </a:r>
            <a:r>
              <a:rPr/>
              <a:t> Persistência relacional transacional. - </a:t>
            </a:r>
            <a:r>
              <a:rPr b="1"/>
              <a:t>Redis (ElastiCache):</a:t>
            </a:r>
            <a:r>
              <a:rPr/>
              <a:t> Gerenciamento de estado de sessões, leaderboards em tempo real e cache-aside para lições. - </a:t>
            </a:r>
            <a:r>
              <a:rPr b="1"/>
              <a:t>S3:</a:t>
            </a:r>
            <a:r>
              <a:rPr/>
              <a:t> Armazenamento de áudios, imagens e arquivos multimídia offline.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💻 8. Stack Tecnológica Completa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🌐 Frontend (Aplicação do Usuário e Administrativa)</a:t>
            </a:r>
          </a:p>
          <a:p>
            <a:pPr lvl="0"/>
            <a:r>
              <a:rPr b="1"/>
              <a:t>Framework &amp; Linguagem:</a:t>
            </a:r>
            <a:r>
              <a:rPr/>
              <a:t> Next.js (App Router) + TypeScript</a:t>
            </a:r>
          </a:p>
          <a:p>
            <a:pPr lvl="0"/>
            <a:r>
              <a:rPr b="1"/>
              <a:t>State Management:</a:t>
            </a:r>
            <a:r>
              <a:rPr/>
              <a:t> Zustand (UI local) + TanStack Query (Estado de API / Server state offline-first)</a:t>
            </a:r>
          </a:p>
          <a:p>
            <a:pPr lvl="0"/>
            <a:r>
              <a:rPr b="1"/>
              <a:t>Estilo:</a:t>
            </a:r>
            <a:r>
              <a:rPr/>
              <a:t> Tailwind CSS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⚙️ Backend (APIs)</a:t>
            </a:r>
          </a:p>
          <a:p>
            <a:pPr lvl="0"/>
            <a:r>
              <a:rPr b="1"/>
              <a:t>Framework &amp; Linguagem:</a:t>
            </a:r>
            <a:r>
              <a:rPr/>
              <a:t> NestJS + TypeScript (Node LTS)</a:t>
            </a:r>
          </a:p>
          <a:p>
            <a:pPr lvl="0"/>
            <a:r>
              <a:rPr b="1"/>
              <a:t>Design Pattern:</a:t>
            </a:r>
            <a:r>
              <a:rPr/>
              <a:t> Clean Architecture e DDD Leve</a:t>
            </a:r>
          </a:p>
          <a:p>
            <a:pPr lvl="0"/>
            <a:r>
              <a:rPr b="1"/>
              <a:t>ORM e Banco:</a:t>
            </a:r>
            <a:r>
              <a:rPr/>
              <a:t> Prisma ORM conectando ao PostgreSQL 15+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9. Segurança, Identidade e Conformidade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Gestão de Identidade:</a:t>
            </a:r>
            <a:r>
              <a:rPr/>
              <a:t> Auth0 (MVP), utilizando OAuth 2.1, OIDC, Access e Refresh Tokens rotativos HTTP-only.</a:t>
            </a:r>
          </a:p>
          <a:p>
            <a:pPr lvl="0"/>
            <a:r>
              <a:rPr b="1"/>
              <a:t>RBAC (Controle de Acesso):</a:t>
            </a:r>
            <a:r>
              <a:rPr/>
              <a:t> Isolamento de rotas para </a:t>
            </a:r>
            <a:r>
              <a:rPr>
                <a:latin typeface="Courier"/>
              </a:rPr>
              <a:t>USER</a:t>
            </a:r>
            <a:r>
              <a:rPr/>
              <a:t>, </a:t>
            </a:r>
            <a:r>
              <a:rPr>
                <a:latin typeface="Courier"/>
              </a:rPr>
              <a:t>ADMIN</a:t>
            </a:r>
            <a:r>
              <a:rPr/>
              <a:t> e </a:t>
            </a:r>
            <a:r>
              <a:rPr>
                <a:latin typeface="Courier"/>
              </a:rPr>
              <a:t>SUPER_ADMIN</a:t>
            </a:r>
            <a:r>
              <a:rPr/>
              <a:t>.</a:t>
            </a:r>
          </a:p>
          <a:p>
            <a:pPr lvl="0"/>
            <a:r>
              <a:rPr b="1"/>
              <a:t>Prevenção (OWASP):</a:t>
            </a:r>
            <a:r>
              <a:rPr/>
              <a:t> Rate limiting e proteções inerentes nos frameworks contra XSS, CSRF, SSRF e SQL Injection.</a:t>
            </a:r>
          </a:p>
          <a:p>
            <a:pPr lvl="0"/>
            <a:r>
              <a:rPr b="1"/>
              <a:t>LGPD:</a:t>
            </a:r>
            <a:r>
              <a:rPr/>
              <a:t> Dados criptografados em repouso e trânsito, com políticas claras de direito ao esquecimento e desativação.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10. Operações e Observabilidade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 monitorar e sustentar o produto, a telemetria é abrangente desde o primeiro dia:</a:t>
            </a:r>
          </a:p>
          <a:p>
            <a:pPr lvl="0"/>
            <a:r>
              <a:rPr b="1"/>
              <a:t>Logs &amp; Tracing:</a:t>
            </a:r>
            <a:r>
              <a:rPr/>
              <a:t> Instrumentação OTLP via </a:t>
            </a:r>
            <a:r>
              <a:rPr b="1"/>
              <a:t>OpenTelemetry</a:t>
            </a:r>
            <a:r>
              <a:rPr/>
              <a:t>; Logs estruturados processados pelo </a:t>
            </a:r>
            <a:r>
              <a:rPr b="1"/>
              <a:t>Loki</a:t>
            </a:r>
            <a:r>
              <a:rPr/>
              <a:t> e </a:t>
            </a:r>
            <a:r>
              <a:rPr b="1"/>
              <a:t>Grafana</a:t>
            </a:r>
            <a:r>
              <a:rPr/>
              <a:t>.</a:t>
            </a:r>
          </a:p>
          <a:p>
            <a:pPr lvl="0"/>
            <a:r>
              <a:rPr b="1"/>
              <a:t>Métricas:</a:t>
            </a:r>
            <a:r>
              <a:rPr/>
              <a:t> Indicadores de performance consumidos via </a:t>
            </a:r>
            <a:r>
              <a:rPr b="1"/>
              <a:t>Prometheus</a:t>
            </a:r>
            <a:r>
              <a:rPr/>
              <a:t>.</a:t>
            </a:r>
          </a:p>
          <a:p>
            <a:pPr lvl="0"/>
            <a:r>
              <a:rPr b="1"/>
              <a:t>DevSecOps:</a:t>
            </a:r>
            <a:r>
              <a:rPr/>
              <a:t> Pipeline robusto via </a:t>
            </a:r>
            <a:r>
              <a:rPr b="1"/>
              <a:t>GitHub Actions</a:t>
            </a:r>
          </a:p>
          <a:p>
            <a:pPr lvl="1"/>
            <a:r>
              <a:rPr/>
              <a:t>Lint → Typecheck → Unit/E2E Tests → SAST (SonarQube) → Trivy/Dependabot → Implantação Blue-Green.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🛤️ 11. Roadmap de Evolução Arquitetural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V1: O MVP (Atual)</a:t>
            </a:r>
          </a:p>
          <a:p>
            <a:pPr lvl="1"/>
            <a:r>
              <a:rPr/>
              <a:t>Monólito NestJS; Repetição espaçada embutida, IAM no Auth0. Objetivo: Validar retenção.</a:t>
            </a:r>
          </a:p>
          <a:p>
            <a:pPr lvl="0"/>
            <a:r>
              <a:rPr b="1"/>
              <a:t>V2: O Growth Stage</a:t>
            </a:r>
          </a:p>
          <a:p>
            <a:pPr lvl="1"/>
            <a:r>
              <a:rPr/>
              <a:t>Extração do Motor de Recomendação e Serviços de Notificação. Expansão para múltiplos idiomas.</a:t>
            </a:r>
          </a:p>
          <a:p>
            <a:pPr lvl="0"/>
            <a:r>
              <a:rPr b="1"/>
              <a:t>V3: Scale Stage (IA &amp; Microservices)</a:t>
            </a:r>
          </a:p>
          <a:p>
            <a:pPr lvl="1"/>
            <a:r>
              <a:rPr/>
              <a:t>Break-down em microsserviços (Learning, Gamification). Eventos via </a:t>
            </a:r>
            <a:r>
              <a:rPr b="1"/>
              <a:t>Kafka</a:t>
            </a:r>
            <a:r>
              <a:rPr/>
              <a:t>.</a:t>
            </a:r>
          </a:p>
          <a:p>
            <a:pPr lvl="1"/>
            <a:r>
              <a:rPr b="1"/>
              <a:t>Motor de IA Conversacional</a:t>
            </a:r>
            <a:r>
              <a:rPr/>
              <a:t>: Simulação de diálogos, avaliações vocais avançadas.</a:t>
            </a:r>
          </a:p>
          <a:p>
            <a:pPr lvl="0"/>
            <a:r>
              <a:rPr b="1"/>
              <a:t>V4: Enterprise Stage</a:t>
            </a:r>
          </a:p>
          <a:p>
            <a:pPr lvl="1"/>
            <a:r>
              <a:rPr/>
              <a:t>Separação de Tenants no nível de banco/schema, painel corporativo e certificações B2B.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12. Métricas de Sucesso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Aquisição:</a:t>
            </a:r>
            <a:r>
              <a:rPr/>
              <a:t> Custo por Usuário Adquirido (CAC); Taxa de conversão do fluxo de onboarding.</a:t>
            </a:r>
          </a:p>
          <a:p>
            <a:pPr lvl="0"/>
            <a:r>
              <a:rPr b="1"/>
              <a:t>Engajamento:</a:t>
            </a:r>
            <a:r>
              <a:rPr/>
              <a:t> Daily Active Users (DAU); Tempo médio diário; Lições por dia.</a:t>
            </a:r>
          </a:p>
          <a:p>
            <a:pPr lvl="0"/>
            <a:r>
              <a:rPr b="1"/>
              <a:t>Retenção:</a:t>
            </a:r>
            <a:r>
              <a:rPr/>
              <a:t> Retenção em D1, D7 e D30; % de usuários mantendo longos streaks.</a:t>
            </a:r>
          </a:p>
          <a:p>
            <a:pPr lvl="0"/>
            <a:r>
              <a:rPr b="1"/>
              <a:t>Receita (Modelos V2/V3):</a:t>
            </a:r>
            <a:r>
              <a:rPr/>
              <a:t> Monthly Recurring Revenue (MRR); Lifetime Value (LTV) versus CAC.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🚀 Fim da Apresentação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LinguoUp: Menos tempo livre demandado, muito mais resultado.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2026-07-13T13:36:00Z</dcterms:created>
  <dcterms:modified xsi:type="dcterms:W3CDTF">2026-07-13T13:36:00Z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